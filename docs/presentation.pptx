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b34e2fdbe4d54" /><Relationship Type="http://schemas.openxmlformats.org/officeDocument/2006/relationships/extended-properties" Target="/docProps/app.xml" Id="R65a2fb1b56874407" /><Relationship Type="http://schemas.openxmlformats.org/officeDocument/2006/relationships/officeDocument" Target="/ppt/presentation.xml" Id="R328bb3a7d3e6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455f915f24c67"/>
  </p:sldMasterIdLst>
  <p:notesMasterIdLst>
    <p:notesMasterId xmlns:r="http://schemas.openxmlformats.org/officeDocument/2006/relationships" r:id="R28461483ee2744f1"/>
  </p:notesMasterIdLst>
  <p:sldIdLst>
    <p:sldId xmlns:r="http://schemas.openxmlformats.org/officeDocument/2006/relationships" id="256" r:id="Rc5b915b5d78848ea"/>
    <p:sldId xmlns:r="http://schemas.openxmlformats.org/officeDocument/2006/relationships" id="257" r:id="R7992600972f9437a"/>
    <p:sldId xmlns:r="http://schemas.openxmlformats.org/officeDocument/2006/relationships" id="258" r:id="R3ad90cb97739403a"/>
    <p:sldId xmlns:r="http://schemas.openxmlformats.org/officeDocument/2006/relationships" id="259" r:id="Rf5f3795bfa19464e"/>
    <p:sldId xmlns:r="http://schemas.openxmlformats.org/officeDocument/2006/relationships" id="260" r:id="R31b9fbcb24cd4121"/>
    <p:sldId xmlns:r="http://schemas.openxmlformats.org/officeDocument/2006/relationships" id="261" r:id="R736df23a803d4fe1"/>
    <p:sldId xmlns:r="http://schemas.openxmlformats.org/officeDocument/2006/relationships" id="262" r:id="Rfcd3b30d77864d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8885c0497460a" /><Relationship Type="http://schemas.openxmlformats.org/officeDocument/2006/relationships/slideMaster" Target="/ppt/slideMasters/slideMaster1.xml" Id="R61a455f915f24c67" /><Relationship Type="http://schemas.openxmlformats.org/officeDocument/2006/relationships/notesMaster" Target="/ppt/notesMasters/notesMaster1.xml" Id="R28461483ee2744f1" /><Relationship Type="http://schemas.openxmlformats.org/officeDocument/2006/relationships/presProps" Target="/ppt/presProps.xml" Id="Ref11d4367b004ade" /><Relationship Type="http://schemas.openxmlformats.org/officeDocument/2006/relationships/tableStyles" Target="/ppt/tableStyles.xml" Id="R52bd2fd398c24ffd" /><Relationship Type="http://schemas.openxmlformats.org/officeDocument/2006/relationships/slide" Target="/ppt/slides/slide1.xml" Id="Rc5b915b5d78848ea" /><Relationship Type="http://schemas.openxmlformats.org/officeDocument/2006/relationships/slide" Target="/ppt/slides/slide2.xml" Id="R7992600972f9437a" /><Relationship Type="http://schemas.openxmlformats.org/officeDocument/2006/relationships/slide" Target="/ppt/slides/slide3.xml" Id="R3ad90cb97739403a" /><Relationship Type="http://schemas.openxmlformats.org/officeDocument/2006/relationships/slide" Target="/ppt/slides/slide4.xml" Id="Rf5f3795bfa19464e" /><Relationship Type="http://schemas.openxmlformats.org/officeDocument/2006/relationships/slide" Target="/ppt/slides/slide5.xml" Id="R31b9fbcb24cd4121" /><Relationship Type="http://schemas.openxmlformats.org/officeDocument/2006/relationships/slide" Target="/ppt/slides/slide6.xml" Id="R736df23a803d4fe1" /><Relationship Type="http://schemas.openxmlformats.org/officeDocument/2006/relationships/slide" Target="/ppt/slides/slide7.xml" Id="Rfcd3b30d77864d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026a8195b49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5fb5480784451" /><Relationship Type="http://schemas.openxmlformats.org/officeDocument/2006/relationships/notesMaster" Target="/ppt/notesMasters/notesMaster1.xml" Id="Rda17289b0ecb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a469d54bcc4e72" /><Relationship Type="http://schemas.openxmlformats.org/officeDocument/2006/relationships/notesMaster" Target="/ppt/notesMasters/notesMaster1.xml" Id="R3162c4e64e8146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84c9865254986" /><Relationship Type="http://schemas.openxmlformats.org/officeDocument/2006/relationships/notesMaster" Target="/ppt/notesMasters/notesMaster1.xml" Id="Re55d2c9a84b44a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01739f6fa41d6" /><Relationship Type="http://schemas.openxmlformats.org/officeDocument/2006/relationships/notesMaster" Target="/ppt/notesMasters/notesMaster1.xml" Id="R422eee963537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190e2c5b04485e" /><Relationship Type="http://schemas.openxmlformats.org/officeDocument/2006/relationships/notesMaster" Target="/ppt/notesMasters/notesMaster1.xml" Id="R8097db1a06ef49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5a33387dc248d6" /><Relationship Type="http://schemas.openxmlformats.org/officeDocument/2006/relationships/notesMaster" Target="/ppt/notesMasters/notesMaster1.xml" Id="R95bee3add0df4e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8abf77c14402c" /><Relationship Type="http://schemas.openxmlformats.org/officeDocument/2006/relationships/notesMaster" Target="/ppt/notesMasters/notesMaster1.xml" Id="R73b9ac09ed20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https://github.com/mirvmir/max-tsr-assistant/blob/main/docs/FIRST_SCENARIO.md</a:t>
            </a:r>
          </a:p>
          <a:p xmlns:a="http://schemas.openxmlformats.org/drawingml/2006/main">
            <a:r>
              <a:t>Источник проекта: https://github.com/mirvmir/max-tsr-assistant/blob/main/src/tsr/domain/conversation/__init__.py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https://github.com/mirvmir/max-tsr-assistant/blob/main/data/catalog/mvp/1.1.0/catalog.json</a:t>
            </a:r>
          </a:p>
          <a:p xmlns:a="http://schemas.openxmlformats.org/drawingml/2006/main">
            <a:r>
              <a:t>Источник проекта: https://github.com/mirvmir/max-tsr-assistant/blob/main/data/sources/1.1.0/sources.json</a:t>
            </a:r>
          </a:p>
          <a:p xmlns:a="http://schemas.openxmlformats.org/drawingml/2006/main">
            <a:r>
              <a:t>Источник проекта: https://github.com/mirvmir/max-tsr-assistant/blob/main/docs/data/REAL_CATALOG.md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https://github.com/mirvmir/max-tsr-assistant/blob/main/docs/FIRST_SCENARIO.md</a:t>
            </a:r>
          </a:p>
          <a:p xmlns:a="http://schemas.openxmlformats.org/drawingml/2006/main">
            <a:r>
              <a:t>Источник проекта: https://github.com/mirvmir/max-tsr-assistant/blob/main/data/catalog/mvp/1.1.0/catalog.json</a:t>
            </a:r>
          </a:p>
          <a:p xmlns:a="http://schemas.openxmlformats.org/drawingml/2006/main">
            <a:r>
              <a:t>Источник проекта: https://github.com/mirvmir/max-tsr-assistant/blob/main/data/demo/1.1.0/profiles.json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https://github.com/mirvmir/max-tsr-assistant/blob/main/templates/registry.json</a:t>
            </a:r>
          </a:p>
          <a:p xmlns:a="http://schemas.openxmlformats.org/drawingml/2006/main">
            <a:r>
              <a:t>Источник проекта: https://github.com/mirvmir/max-tsr-assistant/blob/main/src/tsr/adapters/render/__init__.py</a:t>
            </a:r>
          </a:p>
          <a:p xmlns:a="http://schemas.openxmlformats.org/drawingml/2006/main">
            <a:r>
              <a:t>Источник проекта: https://github.com/mirvmir/max-tsr-assistant/blob/main/docs/FIRST_SCENARIO.md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https://github.com/mirvmir/max-tsr-assistant/blob/main/docs/ARCHITECTURE.md</a:t>
            </a:r>
          </a:p>
          <a:p xmlns:a="http://schemas.openxmlformats.org/drawingml/2006/main">
            <a:r>
              <a:t>Источник проекта: https://github.com/mirvmir/max-tsr-assistant/blob/main/compose.yaml</a:t>
            </a:r>
          </a:p>
          <a:p xmlns:a="http://schemas.openxmlformats.org/drawingml/2006/main">
            <a:r>
              <a:t>Источник проекта: https://github.com/mirvmir/max-tsr-assistant/blob/main/src/tsr/worker/dispatcher.py</a:t>
            </a:r>
          </a:p>
          <a:p xmlns:a="http://schemas.openxmlformats.org/drawingml/2006/main">
            <a:r>
              <a:t>Источник проекта: https://github.com/mirvmir/max-tsr-assistant/blob/main/src/tsr/adapters/crypto/__init__.py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https://github.com/mirvmir/max-tsr-assistant/blob/main/README.md</a:t>
            </a:r>
          </a:p>
          <a:p xmlns:a="http://schemas.openxmlformats.org/drawingml/2006/main">
            <a:r>
              <a:t>Источник проекта: https://github.com/mirvmir/max-tsr-assistant/blob/main/docs/submission/checklist.md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8757fb715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9030935c0246a1" /><Relationship Type="http://schemas.openxmlformats.org/officeDocument/2006/relationships/slideLayout" Target="/ppt/slideLayouts/slideLayout1.xml" Id="R3bfed2d0238c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ed2d0238c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b5084e064293" /><Relationship Type="http://schemas.openxmlformats.org/officeDocument/2006/relationships/notesSlide" Target="/ppt/notesSlides/notesSlide1.xml" Id="Rd024f66c52c4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962b7c8e5413d" /><Relationship Type="http://schemas.openxmlformats.org/officeDocument/2006/relationships/notesSlide" Target="/ppt/notesSlides/notesSlide2.xml" Id="R4ecfbc7c277448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59610c1a44372" /><Relationship Type="http://schemas.openxmlformats.org/officeDocument/2006/relationships/notesSlide" Target="/ppt/notesSlides/notesSlide3.xml" Id="R7dc12235c69549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471299f0441a0" /><Relationship Type="http://schemas.openxmlformats.org/officeDocument/2006/relationships/notesSlide" Target="/ppt/notesSlides/notesSlide4.xml" Id="R44217ae54643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040db0654778" /><Relationship Type="http://schemas.openxmlformats.org/officeDocument/2006/relationships/notesSlide" Target="/ppt/notesSlides/notesSlide5.xml" Id="R0c02297dedf345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4bac679b748bb" /><Relationship Type="http://schemas.openxmlformats.org/officeDocument/2006/relationships/notesSlide" Target="/ppt/notesSlides/notesSlide6.xml" Id="Reca60ec07996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f6841c9b2406c" /><Relationship Type="http://schemas.openxmlformats.org/officeDocument/2006/relationships/notesSlide" Target="/ppt/notesSlides/notesSlide7.xml" Id="Rc7d6ab884c4e46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0976-67D2-4098-8E45-892938B5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Помощник по подбору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ТСР в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480BB-736E-48FF-B36D-2BCEC3EC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6E8E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6E8ED"/>
                </a:solidFill>
                <a:latin typeface="DejaVu Sans"/>
                <a:ea typeface="DejaVu Sans"/>
                <a:cs typeface="DejaVu Sans"/>
              </a:rPr>
              <a:t>Сравнение кресел-колясок, расчёт сертификата</a:t>
            </a:r>
          </a:p>
          <a:p xmlns:a="http://schemas.openxmlformats.org/drawingml/2006/main">
            <a:pPr>
              <a:defRPr sz="2400" b="0">
                <a:solidFill>
                  <a:srgbClr val="D6E8E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D6E8ED"/>
                </a:solidFill>
                <a:latin typeface="DejaVu Sans"/>
                <a:ea typeface="DejaVu Sans"/>
                <a:cs typeface="DejaVu Sans"/>
              </a:rPr>
              <a:t>и подготовка документов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0FEF7-4BF2-469B-853C-5FBD8C69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4D8C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84D8CC"/>
                </a:solidFill>
                <a:latin typeface="DejaVu Sans"/>
                <a:ea typeface="DejaVu Sans"/>
                <a:cs typeface="DejaVu Sans"/>
              </a:rPr>
              <a:t>Демонстрационный режим</a:t>
            </a:r>
          </a:p>
        </p:txBody>
      </p:sp>
    </p:spTree>
    <p:extLst>
      <p:ext uri="{BB962C8B-B14F-4D97-AF65-F5344CB8AC3E}">
        <p14:creationId xmlns:p14="http://schemas.microsoft.com/office/powerpoint/2010/main" val="1828640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F9B2E-2A24-4813-8CBB-DAACF242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A077E-C28D-40C4-BE08-D3F20C8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01C49-8ED2-4390-B8E4-4577678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716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Параметры и подтверждение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1103-EDA1-4B75-A855-6DCFC2B1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19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Ширина сиденья, масса пользователя, конструкция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и сведения о сертификате.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43EB-97D9-44C8-86AE-72E21F8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98599-1766-4CE7-865D-8972DF4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528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Сравнение и выбор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89327-8E9B-47D6-8047-7E420243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00525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Предложения, источники и расчёт. Ответы можно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исправить, кейс можно продолжить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F7E5-F5DA-4267-8E74-88E1CD5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1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После выбора: карточка покупки или пакет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1757551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7BF11-7632-4C33-9145-A68B9CC5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Каталог: 12 конкретных предложений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866900"/>
          <a:ext xmlns:a="http://schemas.openxmlformats.org/drawingml/2006/main" cx="107442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571750"/>
                <a:gridCol w="3981450"/>
              </a:tblGrid>
              <a:tr h="819150">
                <a:tc>
                  <a:txBody>
                    <a:bodyPr lIns="190500" tIns="95250" rIns="171450" bIns="9525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142B3A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Предложения</a:t>
                      </a:r>
                    </a:p>
                  </a:txBody>
                  <a:tcPr marL="91440" marR="91440" marT="45720" marB="45720" anchor="ctr">
                    <a:solidFill>
                      <a:srgbClr val="142B3A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Дата снимка</a:t>
                      </a:r>
                    </a:p>
                  </a:txBody>
                  <a:tcPr marL="91440" marR="91440" marT="45720" marB="45720" anchor="ctr">
                    <a:solidFill>
                      <a:srgbClr val="142B3A"/>
                    </a:solidFill>
                  </a:tcPr>
                </a:tc>
              </a:tr>
              <a:tr h="819150"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Ortonica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30.09.2026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Medicamarket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90500" tIns="95250" rIns="171450" bIns="95250"/>
                    <a:lstStyle/>
                    <a:p>
                      <a:r>
                        <a:rPr sz="2100" b="0">
                          <a:solidFill>
                            <a:srgbClr val="283C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30.09.2026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76771-B078-437F-AA6E-DD6CCFD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Каждая запись связывает SKU, комплектацию, параметры,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цену и источник. Деньги хранятся в целых копейках.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A6678-8D11-427F-9E23-119564B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Точная цена, цена «от» и противоречивые данные различаются.</a:t>
            </a:r>
          </a:p>
        </p:txBody>
      </p:sp>
    </p:spTree>
    <p:extLst>
      <p:ext uri="{BB962C8B-B14F-4D97-AF65-F5344CB8AC3E}">
        <p14:creationId xmlns:p14="http://schemas.microsoft.com/office/powerpoint/2010/main" val="1395692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4FA67-92F8-46A7-BD18-5F1CD75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Демонстрационный расчёт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4C274-1A25-4B8F-9536-5DBF92F8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Ortonica Base 200, SKU 5048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AB8BC-402E-4D14-8D06-554380F2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Сиденье 405 мм. Максимальная нагрузка 130 кг.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98EDB-9C91-4430-A5CB-E766A3A0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14 500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6CE99-288C-4A9F-B965-FD6274C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Цена комплектации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DFAFA-3C51-4EA2-8751-DC83EE36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10 000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5BD01-DFA7-400F-8846-6507A7F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95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Заявленный сертификат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2D38-4637-412D-B294-8738C8A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4 500 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774CF-3AC4-44AA-9045-599C424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Условная разница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90D94-9C0E-4332-B8D6-AE005F61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Приём сертификата и доставку уточняет продавец.</a:t>
            </a:r>
          </a:p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Расчёт использует снимок от 30.09.2026 и учебный профиль.</a:t>
            </a:r>
          </a:p>
        </p:txBody>
      </p:sp>
    </p:spTree>
    <p:extLst>
      <p:ext uri="{BB962C8B-B14F-4D97-AF65-F5344CB8AC3E}">
        <p14:creationId xmlns:p14="http://schemas.microsoft.com/office/powerpoint/2010/main" val="181435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6BF11-1447-45AD-9C59-0D667ED1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Документы по выбранному сценарию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26EA-7828-4647-8829-244CEA9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Покупка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FB16D-2EEC-419F-868E-7C4B110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1 PDF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CDDD-12C4-4327-A5F7-A8C20F0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914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Карточка выбранного изделия,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расчёт и вопросы поставщику.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6A2D-4AB1-4EE0-87FA-A48A60E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Обращение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B1F41-782F-4891-A9B0-70D4EDCB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991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DOCX + 3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BB500-74C9-4F3C-BAC4-1492C10E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Заявление в двух форматах,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карточка ТСР и чек-лист.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D26AA-4F3D-4B0A-B56E-10DA0250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Учебные документы с маркировкой DEMO. Пользователь подтверждает содержание.</a:t>
            </a:r>
          </a:p>
        </p:txBody>
      </p:sp>
    </p:spTree>
    <p:extLst>
      <p:ext uri="{BB962C8B-B14F-4D97-AF65-F5344CB8AC3E}">
        <p14:creationId xmlns:p14="http://schemas.microsoft.com/office/powerpoint/2010/main" val="740023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48550" y="44672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A"/>
            </a:solidFill>
            <a:headEnd type="triangle" w="med" len="med"/>
            <a:tailEnd type="triangle" w="med" len="med"/>
          </a:ln>
        </p:spPr>
      </p:cxnSp>
      <p:cxnSp>
        <p:nvCxnSpPr>
          <p:cNvPr id="14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920288" y="27527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A"/>
            </a:solidFill>
            <a:headEnd type="triangle" w="med" len="med"/>
            <a:tailEnd type="triangle" w="med" len="med"/>
          </a:ln>
        </p:spPr>
      </p:cxn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448550" y="23050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A"/>
            </a:solidFill>
            <a:tailEnd type="triangle" w="med" len="med"/>
          </a:ln>
        </p:spPr>
      </p:cxnSp>
      <p:cxnSp>
        <p:nvCxnSpPr>
          <p:cNvPr id="16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00400" y="2305050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A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3CC81-A82B-4165-9997-65A80204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Модульный монолит и worker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888CC-C992-4966-BBBC-C433CC9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A"/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37909-BF59-485F-9103-E76AC4D2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57375"/>
            <a:ext cx="3000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A"/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HTTP / FastAPI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BA4CF-0C68-4EF8-8443-DEFE742D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0765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A"/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D1AE6-6E4E-42AB-9F7A-5C005F6C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3076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A"/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Worker</a:t>
            </a:r>
          </a:p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Application /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4FED7-30E7-4FE4-920D-2152A560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43350"/>
            <a:ext cx="3000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A"/>
            </a:solidFill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PDF / DOCX</a:t>
            </a:r>
          </a:p>
          <a:p xmlns:a="http://schemas.openxmlformats.org/drawingml/2006/main">
            <a:pPr algn="ctr">
              <a:def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Отдельный процесс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944A-F41D-48E5-9D62-5D9D5572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095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Сообщения и файлы</a:t>
            </a:r>
          </a:p>
          <a:p xmlns:a="http://schemas.openxmlformats.org/drawingml/2006/main">
            <a:pPr>
              <a:def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83C47"/>
                </a:solidFill>
                <a:latin typeface="DejaVu Sans"/>
                <a:ea typeface="DejaVu Sans"/>
                <a:cs typeface="DejaVu Sans"/>
              </a:rPr>
              <a:t>возвращаются в 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3E21A-FE56-476F-8D0F-143A2EC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Очереди в PostgreSQL. Шифрование данных и документов.</a:t>
            </a:r>
          </a:p>
          <a:p xmlns:a="http://schemas.openxmlformats.org/drawingml/2006/main">
            <a:pPr>
              <a:defRPr sz="19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Одна кодовая база и один Docker-образ для двух ролей.</a:t>
            </a:r>
          </a:p>
        </p:txBody>
      </p:sp>
    </p:spTree>
    <p:extLst>
      <p:ext uri="{BB962C8B-B14F-4D97-AF65-F5344CB8AC3E}">
        <p14:creationId xmlns:p14="http://schemas.microsoft.com/office/powerpoint/2010/main" val="267676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DEC23-DC3B-41A0-AB9C-DD681DF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Запуск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98E15-6D8D-42D6-9105-59F02C5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Docker Compose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4DB5C-507B-449A-AF11-5418FE88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docker compose up --build -d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30DF-AC63-41E2-8B59-F813A7E6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7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7A"/>
                </a:solidFill>
                <a:latin typeface="DejaVu Sans"/>
                <a:ea typeface="DejaVu Sans"/>
                <a:cs typeface="DejaVu Sans"/>
              </a:rPr>
              <a:t>Обе ветки после настройки по README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899E8-F968-4600-A551-A4DBCFF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76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docker compose exec app tsr demo \</a:t>
            </a:r>
          </a:p>
          <a:p xmlns:a="http://schemas.openxmlformats.org/drawingml/2006/main">
            <a:pPr>
              <a:def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  --dataset public --scenario both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66A7D-F2F7-43CF-B2BB-E407613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B3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2B3A"/>
                </a:solidFill>
                <a:latin typeface="DejaVu Sans"/>
                <a:ea typeface="DejaVu Sans"/>
                <a:cs typeface="DejaVu Sans"/>
              </a:rPr>
              <a:t>github.com/mirvmir/max-tsr-assistant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E7D76-7CAE-4B38-B36D-50AB589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Версия v0.1.0-hackathon</a:t>
            </a:r>
          </a:p>
        </p:txBody>
      </p:sp>
    </p:spTree>
    <p:extLst>
      <p:ext uri="{BB962C8B-B14F-4D97-AF65-F5344CB8AC3E}">
        <p14:creationId xmlns:p14="http://schemas.microsoft.com/office/powerpoint/2010/main" val="1913624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2026-09-30T06:54:09.5510000Z</dcterms:created>
  <dcterms:modified xsi:type="dcterms:W3CDTF">2026-09-30T06:54:09.5510000Z</dcterms:modified>
</coreProperties>
</file>